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Gioi thieu hai tai lieu duoc so do hoa.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nhanh nguyen thuy (teal) doc lap voi polar; nhanh dan xuat qua polar (indigo) can den (-)*. Hoi tu o ket luan: (PM) la gia thiet doc lap, khong tu dong.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Phu luc: bang tien de day du cua ly thuyet.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 tang F0-F6, moi tang mot ingredient. F3 (loi) la nhanh phu khong dung cho 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 thang 7 tang, F3 la nhanh phu duoc noi dut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 tong ket cuoi cung: moi tien de dung o tang nao.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4156710"/>
            <a:ext cx="171831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A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THÀNH SƠ ĐỒ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33500" y="4568190"/>
            <a:ext cx="1571625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48"/>
              </a:lnSpc>
              <a:buNone/>
            </a:pPr>
            <a:r>
              <a:rPr lang="en-US" sz="420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Semiring: từ tiên đề đại số đến cấu trúc hình học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398770"/>
            <a:ext cx="1275397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1800" dirty="0">
                <a:solidFill>
                  <a:srgbClr val="454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— luồng phụ thuộc giữa các bổ đề/định lý của lý thuyết đại số trừu tượng (idempotent semiring với polar). D2 — bảy tầng dựng cấu trúc đó từ hình học Fenchel cụ thể.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55320"/>
            <a:ext cx="399098" cy="236220"/>
          </a:xfrm>
          <a:prstGeom prst="roundRect">
            <a:avLst>
              <a:gd name="adj" fmla="val 20161"/>
            </a:avLst>
          </a:prstGeom>
          <a:solidFill>
            <a:srgbClr val="181611"/>
          </a:solidFill>
          <a:ln/>
        </p:spPr>
      </p:sp>
      <p:sp>
        <p:nvSpPr>
          <p:cNvPr id="3" name="Text 1"/>
          <p:cNvSpPr/>
          <p:nvPr/>
        </p:nvSpPr>
        <p:spPr>
          <a:xfrm>
            <a:off x="781050" y="693420"/>
            <a:ext cx="246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99198" y="571500"/>
            <a:ext cx="8313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Commutative Semiring với Polar — luồng phụ thuộc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1451610"/>
            <a:ext cx="12573000" cy="84658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7170" y="1870710"/>
            <a:ext cx="217932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0073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51224" y="1978000"/>
            <a:ext cx="2124334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00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ĐỀ 1 (L1)</a:t>
            </a:r>
            <a:endParaRPr lang="en-US" sz="726" dirty="0"/>
          </a:p>
        </p:txBody>
      </p:sp>
      <p:sp>
        <p:nvSpPr>
          <p:cNvPr id="8" name="Text 5"/>
          <p:cNvSpPr/>
          <p:nvPr/>
        </p:nvSpPr>
        <p:spPr>
          <a:xfrm>
            <a:off x="4151224" y="2095348"/>
            <a:ext cx="2124334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là song ánh</a:t>
            </a:r>
            <a:endParaRPr lang="en-US" sz="924" dirty="0"/>
          </a:p>
        </p:txBody>
      </p:sp>
      <p:sp>
        <p:nvSpPr>
          <p:cNvPr id="9" name="Text 6"/>
          <p:cNvSpPr/>
          <p:nvPr/>
        </p:nvSpPr>
        <p:spPr>
          <a:xfrm>
            <a:off x="4151224" y="2286457"/>
            <a:ext cx="200741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a** = a ⇒ (–)* song ánh, tự nghịch đảo.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151224" y="2630119"/>
            <a:ext cx="2124334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P</a:t>
            </a:r>
            <a:endParaRPr lang="en-US" sz="693" dirty="0"/>
          </a:p>
        </p:txBody>
      </p:sp>
      <p:sp>
        <p:nvSpPr>
          <p:cNvPr id="11" name="Shape 8"/>
          <p:cNvSpPr/>
          <p:nvPr/>
        </p:nvSpPr>
        <p:spPr>
          <a:xfrm>
            <a:off x="6709410" y="1870710"/>
            <a:ext cx="234696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0073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3464" y="1978000"/>
            <a:ext cx="2308738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00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ĐỀ 2 (L2)</a:t>
            </a:r>
            <a:endParaRPr lang="en-US" sz="726" dirty="0"/>
          </a:p>
        </p:txBody>
      </p:sp>
      <p:sp>
        <p:nvSpPr>
          <p:cNvPr id="13" name="Text 10"/>
          <p:cNvSpPr/>
          <p:nvPr/>
        </p:nvSpPr>
        <p:spPr>
          <a:xfrm>
            <a:off x="6833464" y="2095348"/>
            <a:ext cx="2308738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tự từ lũy đẳng</a:t>
            </a:r>
            <a:endParaRPr lang="en-US" sz="924" dirty="0"/>
          </a:p>
        </p:txBody>
      </p:sp>
      <p:sp>
        <p:nvSpPr>
          <p:cNvPr id="14" name="Text 11"/>
          <p:cNvSpPr/>
          <p:nvPr/>
        </p:nvSpPr>
        <p:spPr>
          <a:xfrm>
            <a:off x="6833464" y="2286457"/>
            <a:ext cx="217505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≤ b :⇔ a∧b = a là thứ tự bộ phận; e∧ là max.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833464" y="2630119"/>
            <a:ext cx="2308738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M0–M3</a:t>
            </a:r>
            <a:endParaRPr lang="en-US" sz="693" dirty="0"/>
          </a:p>
        </p:txBody>
      </p:sp>
      <p:sp>
        <p:nvSpPr>
          <p:cNvPr id="16" name="Shape 13"/>
          <p:cNvSpPr/>
          <p:nvPr/>
        </p:nvSpPr>
        <p:spPr>
          <a:xfrm>
            <a:off x="6709410" y="3128010"/>
            <a:ext cx="234696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0073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3464" y="3235300"/>
            <a:ext cx="2308738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00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1 (TA)</a:t>
            </a:r>
            <a:endParaRPr lang="en-US" sz="726" dirty="0"/>
          </a:p>
        </p:txBody>
      </p:sp>
      <p:sp>
        <p:nvSpPr>
          <p:cNvPr id="18" name="Text 15"/>
          <p:cNvSpPr/>
          <p:nvPr/>
        </p:nvSpPr>
        <p:spPr>
          <a:xfrm>
            <a:off x="6833464" y="3352647"/>
            <a:ext cx="2308738" cy="18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∧ đơn điệu</a:t>
            </a:r>
            <a:endParaRPr lang="en-US" sz="924" dirty="0"/>
          </a:p>
        </p:txBody>
      </p:sp>
      <p:sp>
        <p:nvSpPr>
          <p:cNvPr id="19" name="Text 16"/>
          <p:cNvSpPr/>
          <p:nvPr/>
        </p:nvSpPr>
        <p:spPr>
          <a:xfrm>
            <a:off x="6833464" y="3550463"/>
            <a:ext cx="23087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≤ b ⇒ a∧c ≤ b∧c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833464" y="3747440"/>
            <a:ext cx="2308738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M0–M2</a:t>
            </a:r>
            <a:endParaRPr lang="en-US" sz="693" dirty="0"/>
          </a:p>
        </p:txBody>
      </p:sp>
      <p:sp>
        <p:nvSpPr>
          <p:cNvPr id="21" name="Shape 18"/>
          <p:cNvSpPr/>
          <p:nvPr/>
        </p:nvSpPr>
        <p:spPr>
          <a:xfrm>
            <a:off x="6709410" y="4385310"/>
            <a:ext cx="234696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0073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33464" y="4492599"/>
            <a:ext cx="2308738" cy="13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00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1 (TB)</a:t>
            </a:r>
            <a:endParaRPr lang="en-US" sz="726" dirty="0"/>
          </a:p>
        </p:txBody>
      </p:sp>
      <p:sp>
        <p:nvSpPr>
          <p:cNvPr id="23" name="Text 20"/>
          <p:cNvSpPr/>
          <p:nvPr/>
        </p:nvSpPr>
        <p:spPr>
          <a:xfrm>
            <a:off x="6833464" y="4609947"/>
            <a:ext cx="2308738" cy="178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đơn điệu</a:t>
            </a:r>
            <a:endParaRPr lang="en-US" sz="924" dirty="0"/>
          </a:p>
        </p:txBody>
      </p:sp>
      <p:sp>
        <p:nvSpPr>
          <p:cNvPr id="24" name="Text 21"/>
          <p:cNvSpPr/>
          <p:nvPr/>
        </p:nvSpPr>
        <p:spPr>
          <a:xfrm>
            <a:off x="6833464" y="4801057"/>
            <a:ext cx="23087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≤ b ⇒ a+c ≤ b+c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833464" y="4998034"/>
            <a:ext cx="2308738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M0–M2, SM1</a:t>
            </a:r>
            <a:endParaRPr lang="en-US" sz="693" dirty="0"/>
          </a:p>
        </p:txBody>
      </p:sp>
      <p:sp>
        <p:nvSpPr>
          <p:cNvPr id="26" name="Shape 23"/>
          <p:cNvSpPr/>
          <p:nvPr/>
        </p:nvSpPr>
        <p:spPr>
          <a:xfrm>
            <a:off x="9894570" y="1870710"/>
            <a:ext cx="284988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37529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18625" y="1978000"/>
            <a:ext cx="2861950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2C4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ĐỀ 3</a:t>
            </a:r>
            <a:endParaRPr lang="en-US" sz="726" dirty="0"/>
          </a:p>
        </p:txBody>
      </p:sp>
      <p:sp>
        <p:nvSpPr>
          <p:cNvPr id="28" name="Text 25"/>
          <p:cNvSpPr/>
          <p:nvPr/>
        </p:nvSpPr>
        <p:spPr>
          <a:xfrm>
            <a:off x="10018625" y="2095348"/>
            <a:ext cx="2861950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Morgan trừu tượng</a:t>
            </a:r>
            <a:endParaRPr lang="en-US" sz="924" dirty="0"/>
          </a:p>
        </p:txBody>
      </p:sp>
      <p:sp>
        <p:nvSpPr>
          <p:cNvPr id="29" name="Text 26"/>
          <p:cNvSpPr/>
          <p:nvPr/>
        </p:nvSpPr>
        <p:spPr>
          <a:xfrm>
            <a:off x="10018625" y="2286457"/>
            <a:ext cx="28619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(a∨b)* = a*∧b*, (a×b)* = a*+b*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0018625" y="2483434"/>
            <a:ext cx="2861950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P</a:t>
            </a:r>
            <a:endParaRPr lang="en-US" sz="693" dirty="0"/>
          </a:p>
        </p:txBody>
      </p:sp>
      <p:sp>
        <p:nvSpPr>
          <p:cNvPr id="31" name="Shape 28"/>
          <p:cNvSpPr/>
          <p:nvPr/>
        </p:nvSpPr>
        <p:spPr>
          <a:xfrm>
            <a:off x="9894570" y="3128010"/>
            <a:ext cx="284988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37529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18625" y="3235300"/>
            <a:ext cx="2861950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2C4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2 (T1)</a:t>
            </a:r>
            <a:endParaRPr lang="en-US" sz="726" dirty="0"/>
          </a:p>
        </p:txBody>
      </p:sp>
      <p:sp>
        <p:nvSpPr>
          <p:cNvPr id="33" name="Text 30"/>
          <p:cNvSpPr/>
          <p:nvPr/>
        </p:nvSpPr>
        <p:spPr>
          <a:xfrm>
            <a:off x="10018625" y="3352647"/>
            <a:ext cx="2861950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Semiring dẫn xuất</a:t>
            </a:r>
            <a:endParaRPr lang="en-US" sz="924" dirty="0"/>
          </a:p>
        </p:txBody>
      </p:sp>
      <p:sp>
        <p:nvSpPr>
          <p:cNvPr id="34" name="Text 31"/>
          <p:cNvSpPr/>
          <p:nvPr/>
        </p:nvSpPr>
        <p:spPr>
          <a:xfrm>
            <a:off x="10018625" y="3543757"/>
            <a:ext cx="2679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∨, ×) thỏa M0–M3, S1–S3, SM1; (–)* là đẳng cấu đại số.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0018625" y="3887419"/>
            <a:ext cx="2861950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P, M0–M3, S1–S3, SM1, Bổ đề 3</a:t>
            </a:r>
            <a:endParaRPr lang="en-US" sz="693" dirty="0"/>
          </a:p>
        </p:txBody>
      </p:sp>
      <p:sp>
        <p:nvSpPr>
          <p:cNvPr id="36" name="Shape 33"/>
          <p:cNvSpPr/>
          <p:nvPr/>
        </p:nvSpPr>
        <p:spPr>
          <a:xfrm>
            <a:off x="9894570" y="4385310"/>
            <a:ext cx="284988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37529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18625" y="4492599"/>
            <a:ext cx="2861950" cy="13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2C4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3 (T2)</a:t>
            </a:r>
            <a:endParaRPr lang="en-US" sz="726" dirty="0"/>
          </a:p>
        </p:txBody>
      </p:sp>
      <p:sp>
        <p:nvSpPr>
          <p:cNvPr id="38" name="Text 35"/>
          <p:cNvSpPr/>
          <p:nvPr/>
        </p:nvSpPr>
        <p:spPr>
          <a:xfrm>
            <a:off x="10018625" y="4609947"/>
            <a:ext cx="2861950" cy="178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Cross-antitone, miễn phí</a:t>
            </a:r>
            <a:endParaRPr lang="en-US" sz="924" dirty="0"/>
          </a:p>
        </p:txBody>
      </p:sp>
      <p:sp>
        <p:nvSpPr>
          <p:cNvPr id="39" name="Text 36"/>
          <p:cNvSpPr/>
          <p:nvPr/>
        </p:nvSpPr>
        <p:spPr>
          <a:xfrm>
            <a:off x="10018625" y="4801057"/>
            <a:ext cx="28619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≤ b ⇔ b* ≤* a*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0018625" y="4998034"/>
            <a:ext cx="2861950" cy="14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P, M0–M2, Bổ đề 3 (dùng lại T1)</a:t>
            </a:r>
            <a:endParaRPr lang="en-US" sz="693" dirty="0"/>
          </a:p>
        </p:txBody>
      </p:sp>
      <p:sp>
        <p:nvSpPr>
          <p:cNvPr id="41" name="Shape 38"/>
          <p:cNvSpPr/>
          <p:nvPr/>
        </p:nvSpPr>
        <p:spPr>
          <a:xfrm>
            <a:off x="9894570" y="5642610"/>
            <a:ext cx="2849880" cy="9220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706">
            <a:solidFill>
              <a:srgbClr val="37529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018625" y="5749900"/>
            <a:ext cx="2861950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2C4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ĐỀ 4 (A,B)</a:t>
            </a:r>
            <a:endParaRPr lang="en-US" sz="726" dirty="0"/>
          </a:p>
        </p:txBody>
      </p:sp>
      <p:sp>
        <p:nvSpPr>
          <p:cNvPr id="43" name="Text 40"/>
          <p:cNvSpPr/>
          <p:nvPr/>
        </p:nvSpPr>
        <p:spPr>
          <a:xfrm>
            <a:off x="10018625" y="5867248"/>
            <a:ext cx="2861950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Hấp thụ, miễn phí</a:t>
            </a:r>
            <a:endParaRPr lang="en-US" sz="924" dirty="0"/>
          </a:p>
        </p:txBody>
      </p:sp>
      <p:sp>
        <p:nvSpPr>
          <p:cNvPr id="44" name="Text 41"/>
          <p:cNvSpPr/>
          <p:nvPr/>
        </p:nvSpPr>
        <p:spPr>
          <a:xfrm>
            <a:off x="10018625" y="6058358"/>
            <a:ext cx="28619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825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(a∧b)∧a = a∧b, a∨(a∨b) = a∨b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0018625" y="6255334"/>
            <a:ext cx="2861950" cy="1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M0–M2, T1 (phần ∨)</a:t>
            </a:r>
            <a:endParaRPr lang="en-US" sz="693" dirty="0"/>
          </a:p>
        </p:txBody>
      </p:sp>
      <p:sp>
        <p:nvSpPr>
          <p:cNvPr id="46" name="Shape 43"/>
          <p:cNvSpPr/>
          <p:nvPr/>
        </p:nvSpPr>
        <p:spPr>
          <a:xfrm>
            <a:off x="9894570" y="6899910"/>
            <a:ext cx="2849880" cy="10896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411">
            <a:solidFill>
              <a:srgbClr val="37529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025329" y="7013906"/>
            <a:ext cx="2847198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2C4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4 (T3)</a:t>
            </a:r>
            <a:endParaRPr lang="en-US" sz="726" dirty="0"/>
          </a:p>
        </p:txBody>
      </p:sp>
      <p:sp>
        <p:nvSpPr>
          <p:cNvPr id="48" name="Text 45"/>
          <p:cNvSpPr/>
          <p:nvPr/>
        </p:nvSpPr>
        <p:spPr>
          <a:xfrm>
            <a:off x="10025329" y="7131253"/>
            <a:ext cx="2847198" cy="178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mệnh đề tương đương</a:t>
            </a:r>
            <a:endParaRPr lang="en-US" sz="924" dirty="0"/>
          </a:p>
        </p:txBody>
      </p:sp>
      <p:sp>
        <p:nvSpPr>
          <p:cNvPr id="49" name="Text 46"/>
          <p:cNvSpPr/>
          <p:nvPr/>
        </p:nvSpPr>
        <p:spPr>
          <a:xfrm>
            <a:off x="10025329" y="7322363"/>
            <a:ext cx="2666013" cy="329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792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a∧b=a ⇔ a∨b=b ⇔ C2: ≤=≤* ⇔ Abs ⇔ PM: a≤b ⇔ b*≤a*</a:t>
            </a:r>
            <a:endParaRPr lang="en-US" sz="792" dirty="0"/>
          </a:p>
        </p:txBody>
      </p:sp>
      <p:sp>
        <p:nvSpPr>
          <p:cNvPr id="50" name="Text 47"/>
          <p:cNvSpPr/>
          <p:nvPr/>
        </p:nvSpPr>
        <p:spPr>
          <a:xfrm>
            <a:off x="10025329" y="7664348"/>
            <a:ext cx="2847198" cy="145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Cần: Bổ đề 4, T2</a:t>
            </a:r>
            <a:endParaRPr lang="en-US" sz="693" dirty="0"/>
          </a:p>
        </p:txBody>
      </p:sp>
      <p:sp>
        <p:nvSpPr>
          <p:cNvPr id="51" name="Shape 48"/>
          <p:cNvSpPr/>
          <p:nvPr/>
        </p:nvSpPr>
        <p:spPr>
          <a:xfrm>
            <a:off x="13247370" y="6899910"/>
            <a:ext cx="2514600" cy="1089660"/>
          </a:xfrm>
          <a:prstGeom prst="roundRect">
            <a:avLst>
              <a:gd name="adj" fmla="val 7692"/>
            </a:avLst>
          </a:prstGeom>
          <a:solidFill>
            <a:srgbClr val="FFF0F0"/>
          </a:solidFill>
          <a:ln w="6706">
            <a:solidFill>
              <a:srgbClr val="AB4046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13371425" y="7007200"/>
            <a:ext cx="2493142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9D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1 — PHẢN VÍ DỤ</a:t>
            </a:r>
            <a:endParaRPr lang="en-US" sz="726" dirty="0"/>
          </a:p>
        </p:txBody>
      </p:sp>
      <p:sp>
        <p:nvSpPr>
          <p:cNvPr id="53" name="Text 50"/>
          <p:cNvSpPr/>
          <p:nvPr/>
        </p:nvSpPr>
        <p:spPr>
          <a:xfrm>
            <a:off x="13371425" y="7124548"/>
            <a:ext cx="2493142" cy="178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(PM) không tự động</a:t>
            </a:r>
            <a:endParaRPr lang="en-US" sz="924" dirty="0"/>
          </a:p>
        </p:txBody>
      </p:sp>
      <p:sp>
        <p:nvSpPr>
          <p:cNvPr id="54" name="Text 51"/>
          <p:cNvSpPr/>
          <p:nvPr/>
        </p:nvSpPr>
        <p:spPr>
          <a:xfrm>
            <a:off x="13371425" y="7315658"/>
            <a:ext cx="2342692" cy="319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792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{z, p, q, e∧}: thỏa M0–M3, P nhưng e∧∧(e∧∨q) = z ≠ e∧: vi phạm Abs1.</a:t>
            </a:r>
            <a:endParaRPr lang="en-US" sz="792" dirty="0"/>
          </a:p>
        </p:txBody>
      </p:sp>
      <p:sp>
        <p:nvSpPr>
          <p:cNvPr id="55" name="Shape 52"/>
          <p:cNvSpPr/>
          <p:nvPr/>
        </p:nvSpPr>
        <p:spPr>
          <a:xfrm>
            <a:off x="4027170" y="8391906"/>
            <a:ext cx="8717280" cy="1257300"/>
          </a:xfrm>
          <a:prstGeom prst="roundRect">
            <a:avLst>
              <a:gd name="adj" fmla="val 6667"/>
            </a:avLst>
          </a:prstGeom>
          <a:solidFill>
            <a:srgbClr val="181611"/>
          </a:solidFill>
          <a:ln/>
        </p:spPr>
      </p:sp>
      <p:sp>
        <p:nvSpPr>
          <p:cNvPr id="56" name="Text 53"/>
          <p:cNvSpPr/>
          <p:nvPr/>
        </p:nvSpPr>
        <p:spPr>
          <a:xfrm>
            <a:off x="4211574" y="8526019"/>
            <a:ext cx="9183320" cy="138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6" b="1" spc="36" kern="0" dirty="0">
                <a:solidFill>
                  <a:srgbClr val="C5B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§6–7 · KẾT LUẬN</a:t>
            </a:r>
            <a:endParaRPr lang="en-US" sz="726" dirty="0"/>
          </a:p>
        </p:txBody>
      </p:sp>
      <p:sp>
        <p:nvSpPr>
          <p:cNvPr id="57" name="Text 54"/>
          <p:cNvSpPr/>
          <p:nvPr/>
        </p:nvSpPr>
        <p:spPr>
          <a:xfrm>
            <a:off x="4211574" y="8660130"/>
            <a:ext cx="9183320" cy="18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tầng kết quả tách bạch "tất định đại số" khỏi "giả thiết bổ sung"</a:t>
            </a:r>
            <a:endParaRPr lang="en-US" sz="990" dirty="0"/>
          </a:p>
        </p:txBody>
      </p:sp>
      <p:sp>
        <p:nvSpPr>
          <p:cNvPr id="58" name="Text 55"/>
          <p:cNvSpPr/>
          <p:nvPr/>
        </p:nvSpPr>
        <p:spPr>
          <a:xfrm>
            <a:off x="4211574" y="8874709"/>
            <a:ext cx="91833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49"/>
              </a:lnSpc>
              <a:buNone/>
            </a:pPr>
            <a:r>
              <a:rPr lang="en-US" sz="825" dirty="0">
                <a:solidFill>
                  <a:srgbClr val="E1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thủy (L1,L2,TA,TB) — độc lập với polar · Dẫn xuất (Bổ đề 3, T1, T2) · Tương thích (Bổ đề 4, T3) — (PM) tương đương hấp thụ, KHÔNG tự động (Ví dụ 1).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771900"/>
            <a:ext cx="399098" cy="236220"/>
          </a:xfrm>
          <a:prstGeom prst="roundRect">
            <a:avLst>
              <a:gd name="adj" fmla="val 20161"/>
            </a:avLst>
          </a:prstGeom>
          <a:solidFill>
            <a:srgbClr val="181611"/>
          </a:solidFill>
          <a:ln/>
        </p:spPr>
      </p:sp>
      <p:sp>
        <p:nvSpPr>
          <p:cNvPr id="3" name="Text 1"/>
          <p:cNvSpPr/>
          <p:nvPr/>
        </p:nvSpPr>
        <p:spPr>
          <a:xfrm>
            <a:off x="1447800" y="3810000"/>
            <a:ext cx="246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65948" y="3688080"/>
            <a:ext cx="3050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— bảng tiên đề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33500" y="4850130"/>
            <a:ext cx="156210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427220"/>
            <a:ext cx="1600200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M0–M3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48000" y="4427220"/>
            <a:ext cx="14323695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a∧a=a; a∧(b∧c)=(a∧b)∧c; a∧b=b∧a; a∧e∧=a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33500" y="5421630"/>
            <a:ext cx="156210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010150"/>
            <a:ext cx="1600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048000" y="5010150"/>
            <a:ext cx="143236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a+(b+c)=(a+b)+c; a+b=b+a; a+e₊=a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6008370"/>
            <a:ext cx="156210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5581650"/>
            <a:ext cx="1600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SM1/SM2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048000" y="5581650"/>
            <a:ext cx="1432369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a+(b∧c)=(a+b)∧(a+c); a+e∧=e∧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168390"/>
            <a:ext cx="1600200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/ PM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48000" y="6168390"/>
            <a:ext cx="14323695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a**=a; a≤b ⇔ b*≤a*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731895"/>
            <a:ext cx="399098" cy="236220"/>
          </a:xfrm>
          <a:prstGeom prst="roundRect">
            <a:avLst>
              <a:gd name="adj" fmla="val 20161"/>
            </a:avLst>
          </a:prstGeom>
          <a:solidFill>
            <a:srgbClr val="181611"/>
          </a:solidFill>
          <a:ln/>
        </p:spPr>
      </p:sp>
      <p:sp>
        <p:nvSpPr>
          <p:cNvPr id="3" name="Text 1"/>
          <p:cNvSpPr/>
          <p:nvPr/>
        </p:nvSpPr>
        <p:spPr>
          <a:xfrm>
            <a:off x="1447800" y="3769995"/>
            <a:ext cx="246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65948" y="3617595"/>
            <a:ext cx="6430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Hình học đến Đại số — bảy tầng F0–F6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4158615"/>
            <a:ext cx="1373505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650" dirty="0">
                <a:solidFill>
                  <a:srgbClr val="454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tầng thêm đúng một ingredient hình học/đại số và "trả" ra một số tiên đề ICS. F3 (lồi) là nhánh phụ: sinh ra kết quả đẹp nhưng không dùng cho việc xây ICS — chỉ cần lại ở F6 khi bắc cầu ngược sang convex analysis cổ điển.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33500" y="5172075"/>
            <a:ext cx="13997940" cy="1497330"/>
          </a:xfrm>
          <a:prstGeom prst="roundRect">
            <a:avLst>
              <a:gd name="adj" fmla="val 7634"/>
            </a:avLst>
          </a:prstGeom>
          <a:solidFill>
            <a:srgbClr val="E3F4FF"/>
          </a:solidFill>
          <a:ln w="7620">
            <a:solidFill>
              <a:srgbClr val="9BB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970" y="5446395"/>
            <a:ext cx="146685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24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LỚN NHẤT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4970" y="5716905"/>
            <a:ext cx="137350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</a:t>
            </a:r>
            <a:pPr algn="l" indent="0" marL="0">
              <a:lnSpc>
                <a:spcPct val="137500"/>
              </a:lnSpc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xuôi </a:t>
            </a:r>
            <a:pPr algn="l" indent="0" marL="0">
              <a:lnSpc>
                <a:spcPct val="137500"/>
              </a:lnSpc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(hình học → đại số, F0→F5): tính lồi (F3) không bao giờ cần đến. Đi </a:t>
            </a:r>
            <a:pPr algn="l" indent="0" marL="0">
              <a:lnSpc>
                <a:spcPct val="137500"/>
              </a:lnSpc>
              <a:buNone/>
            </a:pPr>
            <a:r>
              <a:rPr lang="en-US" sz="16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ngược </a:t>
            </a:r>
            <a:pPr algn="l" indent="0" marL="0">
              <a:lnSpc>
                <a:spcPct val="137500"/>
              </a:lnSpc>
              <a:buNone/>
            </a:pPr>
            <a:r>
              <a:rPr lang="en-US" sz="16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(đại số → diễn giải convex analysis cổ điển, F6): tính lồi mới bắt buộc.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537210"/>
            <a:ext cx="399098" cy="236220"/>
          </a:xfrm>
          <a:prstGeom prst="roundRect">
            <a:avLst>
              <a:gd name="adj" fmla="val 20161"/>
            </a:avLst>
          </a:prstGeom>
          <a:solidFill>
            <a:srgbClr val="181611"/>
          </a:solidFill>
          <a:ln/>
        </p:spPr>
      </p:sp>
      <p:sp>
        <p:nvSpPr>
          <p:cNvPr id="3" name="Text 1"/>
          <p:cNvSpPr/>
          <p:nvPr/>
        </p:nvSpPr>
        <p:spPr>
          <a:xfrm>
            <a:off x="781050" y="575310"/>
            <a:ext cx="246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99198" y="476250"/>
            <a:ext cx="193833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Bảy tầng F0–F6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8400" y="1188720"/>
            <a:ext cx="7124700" cy="84848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8400" y="118872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5182">
            <a:solidFill>
              <a:srgbClr val="0066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0168" y="128458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 · ĐẠI SỐ BIPOLAR THUẦN TÚY</a:t>
            </a:r>
            <a:endParaRPr lang="en-US" sz="612" dirty="0"/>
          </a:p>
        </p:txBody>
      </p:sp>
      <p:sp>
        <p:nvSpPr>
          <p:cNvPr id="8" name="Text 5"/>
          <p:cNvSpPr/>
          <p:nvPr/>
        </p:nvSpPr>
        <p:spPr>
          <a:xfrm>
            <a:off x="6370168" y="1392098"/>
            <a:ext cx="3151968" cy="1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E**=E (quên công thức Galois)</a:t>
            </a:r>
            <a:endParaRPr lang="en-US" sz="765" dirty="0"/>
          </a:p>
        </p:txBody>
      </p:sp>
      <p:sp>
        <p:nvSpPr>
          <p:cNvPr id="9" name="Text 6"/>
          <p:cNvSpPr/>
          <p:nvPr/>
        </p:nvSpPr>
        <p:spPr>
          <a:xfrm>
            <a:off x="6370168" y="1544955"/>
            <a:ext cx="3151968" cy="16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đại số. Sinh ra: song ánh; cơ chế transport ∧,+ → ∨,×.</a:t>
            </a:r>
            <a:endParaRPr lang="en-US" sz="663" dirty="0"/>
          </a:p>
        </p:txBody>
      </p:sp>
      <p:sp>
        <p:nvSpPr>
          <p:cNvPr id="10" name="Text 7"/>
          <p:cNvSpPr/>
          <p:nvPr/>
        </p:nvSpPr>
        <p:spPr>
          <a:xfrm>
            <a:off x="6370168" y="1705909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tự sinh tiên đề nào — tầng cơ chế thuần túy.</a:t>
            </a:r>
            <a:endParaRPr lang="en-US" sz="587" dirty="0"/>
          </a:p>
        </p:txBody>
      </p:sp>
      <p:sp>
        <p:nvSpPr>
          <p:cNvPr id="11" name="Shape 8"/>
          <p:cNvSpPr/>
          <p:nvPr/>
        </p:nvSpPr>
        <p:spPr>
          <a:xfrm>
            <a:off x="6507480" y="261366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5182">
            <a:solidFill>
              <a:srgbClr val="0066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248" y="270952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· GALOIS-CONNECTION ĐỐI XỨNG</a:t>
            </a:r>
            <a:endParaRPr lang="en-US" sz="612" dirty="0"/>
          </a:p>
        </p:txBody>
      </p:sp>
      <p:sp>
        <p:nvSpPr>
          <p:cNvPr id="13" name="Text 10"/>
          <p:cNvSpPr/>
          <p:nvPr/>
        </p:nvSpPr>
        <p:spPr>
          <a:xfrm>
            <a:off x="6629248" y="2817038"/>
            <a:ext cx="3151968" cy="157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∼ đối xứng</a:t>
            </a:r>
            <a:endParaRPr lang="en-US" sz="765" dirty="0"/>
          </a:p>
        </p:txBody>
      </p:sp>
      <p:sp>
        <p:nvSpPr>
          <p:cNvPr id="14" name="Text 11"/>
          <p:cNvSpPr/>
          <p:nvPr/>
        </p:nvSpPr>
        <p:spPr>
          <a:xfrm>
            <a:off x="6629248" y="2975077"/>
            <a:ext cx="3151968" cy="160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tập hợp. E∧F=E∩F; E∨F=(E∪F)**.</a:t>
            </a:r>
            <a:endParaRPr lang="en-US" sz="663" dirty="0"/>
          </a:p>
        </p:txBody>
      </p:sp>
      <p:sp>
        <p:nvSpPr>
          <p:cNvPr id="15" name="Text 12"/>
          <p:cNvSpPr/>
          <p:nvPr/>
        </p:nvSpPr>
        <p:spPr>
          <a:xfrm>
            <a:off x="6629248" y="313603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ra: M0–M3, P (định nghĩa), PM/(Abs), S2.</a:t>
            </a:r>
            <a:endParaRPr lang="en-US" sz="587" dirty="0"/>
          </a:p>
        </p:txBody>
      </p:sp>
      <p:sp>
        <p:nvSpPr>
          <p:cNvPr id="16" name="Shape 13"/>
          <p:cNvSpPr/>
          <p:nvPr/>
        </p:nvSpPr>
        <p:spPr>
          <a:xfrm>
            <a:off x="6766560" y="403860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5182">
            <a:solidFill>
              <a:srgbClr val="0066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88328" y="413446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 · THỨ TỰ TRÊN THỚ</a:t>
            </a:r>
            <a:endParaRPr lang="en-US" sz="612" dirty="0"/>
          </a:p>
        </p:txBody>
      </p:sp>
      <p:sp>
        <p:nvSpPr>
          <p:cNvPr id="18" name="Text 15"/>
          <p:cNvSpPr/>
          <p:nvPr/>
        </p:nvSpPr>
        <p:spPr>
          <a:xfrm>
            <a:off x="6888328" y="4241978"/>
            <a:ext cx="3151968" cy="157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∼ đơn điệu theo r</a:t>
            </a:r>
            <a:endParaRPr lang="en-US" sz="765" dirty="0"/>
          </a:p>
        </p:txBody>
      </p:sp>
      <p:sp>
        <p:nvSpPr>
          <p:cNvPr id="19" name="Text 16"/>
          <p:cNvSpPr/>
          <p:nvPr/>
        </p:nvSpPr>
        <p:spPr>
          <a:xfrm>
            <a:off x="6888328" y="4400017"/>
            <a:ext cx="3151968" cy="160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đại số/thứ tự — không cần tô pô, không cần tuyến tính.</a:t>
            </a:r>
            <a:endParaRPr lang="en-US" sz="663" dirty="0"/>
          </a:p>
        </p:txBody>
      </p:sp>
      <p:sp>
        <p:nvSpPr>
          <p:cNvPr id="20" name="Text 17"/>
          <p:cNvSpPr/>
          <p:nvPr/>
        </p:nvSpPr>
        <p:spPr>
          <a:xfrm>
            <a:off x="6888328" y="4560970"/>
            <a:ext cx="3151968" cy="12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ra: S3, SM2 (trên phần tử proper).</a:t>
            </a:r>
            <a:endParaRPr lang="en-US" sz="587" dirty="0"/>
          </a:p>
        </p:txBody>
      </p:sp>
      <p:sp>
        <p:nvSpPr>
          <p:cNvPr id="21" name="Shape 18"/>
          <p:cNvSpPr/>
          <p:nvPr/>
        </p:nvSpPr>
        <p:spPr>
          <a:xfrm>
            <a:off x="10199370" y="4168140"/>
            <a:ext cx="2590800" cy="1101090"/>
          </a:xfrm>
          <a:prstGeom prst="roundRect">
            <a:avLst>
              <a:gd name="adj" fmla="val 5882"/>
            </a:avLst>
          </a:prstGeom>
          <a:solidFill>
            <a:srgbClr val="FFF3DF"/>
          </a:solidFill>
          <a:ln w="5182">
            <a:solidFill>
              <a:srgbClr val="AD7300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0321137" y="4264000"/>
            <a:ext cx="2581992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965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· HÌNH DẠNG TUYẾN TÍNH (nhánh phụ)</a:t>
            </a:r>
            <a:endParaRPr lang="en-US" sz="612" dirty="0"/>
          </a:p>
        </p:txBody>
      </p:sp>
      <p:sp>
        <p:nvSpPr>
          <p:cNvPr id="23" name="Text 20"/>
          <p:cNvSpPr/>
          <p:nvPr/>
        </p:nvSpPr>
        <p:spPr>
          <a:xfrm>
            <a:off x="10321137" y="4371518"/>
            <a:ext cx="2581992" cy="1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Hₚ = sublevel set hàm affine</a:t>
            </a:r>
            <a:endParaRPr lang="en-US" sz="765" dirty="0"/>
          </a:p>
        </p:txBody>
      </p:sp>
      <p:sp>
        <p:nvSpPr>
          <p:cNvPr id="24" name="Text 21"/>
          <p:cNvSpPr/>
          <p:nvPr/>
        </p:nvSpPr>
        <p:spPr>
          <a:xfrm>
            <a:off x="10321137" y="4524375"/>
            <a:ext cx="2581992" cy="16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hình học đại số. Sinh ra: </a:t>
            </a:r>
            <a:pPr algn="l" indent="0" marL="0">
              <a:lnSpc>
                <a:spcPct val="124013"/>
              </a:lnSpc>
              <a:buNone/>
            </a:pPr>
            <a:r>
              <a:rPr lang="en-US" sz="663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regepi lồi</a:t>
            </a:r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63" dirty="0"/>
          </a:p>
        </p:txBody>
      </p:sp>
      <p:sp>
        <p:nvSpPr>
          <p:cNvPr id="25" name="Text 22"/>
          <p:cNvSpPr/>
          <p:nvPr/>
        </p:nvSpPr>
        <p:spPr>
          <a:xfrm>
            <a:off x="10321137" y="4685329"/>
            <a:ext cx="2581992" cy="12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b="1" dirty="0">
                <a:solidFill>
                  <a:srgbClr val="93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cho ICS — chỉ bắc cầu ngược ở F6.</a:t>
            </a:r>
            <a:endParaRPr lang="en-US" sz="587" dirty="0"/>
          </a:p>
        </p:txBody>
      </p:sp>
      <p:sp>
        <p:nvSpPr>
          <p:cNvPr id="26" name="Shape 23"/>
          <p:cNvSpPr/>
          <p:nvPr/>
        </p:nvSpPr>
        <p:spPr>
          <a:xfrm>
            <a:off x="7025640" y="546354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5182">
            <a:solidFill>
              <a:srgbClr val="00666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47407" y="555940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 · HÌNH DẠNG TÔ PÔ</a:t>
            </a:r>
            <a:endParaRPr lang="en-US" sz="612" dirty="0"/>
          </a:p>
        </p:txBody>
      </p:sp>
      <p:sp>
        <p:nvSpPr>
          <p:cNvPr id="28" name="Text 25"/>
          <p:cNvSpPr/>
          <p:nvPr/>
        </p:nvSpPr>
        <p:spPr>
          <a:xfrm>
            <a:off x="7147407" y="5666918"/>
            <a:ext cx="3151968" cy="1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Hₚ liên tục (độc lập với F3)</a:t>
            </a:r>
            <a:endParaRPr lang="en-US" sz="765" dirty="0"/>
          </a:p>
        </p:txBody>
      </p:sp>
      <p:sp>
        <p:nvSpPr>
          <p:cNvPr id="29" name="Text 26"/>
          <p:cNvSpPr/>
          <p:nvPr/>
        </p:nvSpPr>
        <p:spPr>
          <a:xfrm>
            <a:off x="7147407" y="5819775"/>
            <a:ext cx="3151968" cy="160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hình học tô pô. E** = giao các tập đóng ⇒ đóng.</a:t>
            </a:r>
            <a:endParaRPr lang="en-US" sz="663" dirty="0"/>
          </a:p>
        </p:txBody>
      </p:sp>
      <p:sp>
        <p:nvSpPr>
          <p:cNvPr id="30" name="Text 27"/>
          <p:cNvSpPr/>
          <p:nvPr/>
        </p:nvSpPr>
        <p:spPr>
          <a:xfrm>
            <a:off x="7147407" y="5980729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ra: regepi đóng tô pô — cần lại ở F5.</a:t>
            </a:r>
            <a:endParaRPr lang="en-US" sz="587" dirty="0"/>
          </a:p>
        </p:txBody>
      </p:sp>
      <p:sp>
        <p:nvSpPr>
          <p:cNvPr id="31" name="Shape 28"/>
          <p:cNvSpPr/>
          <p:nvPr/>
        </p:nvSpPr>
        <p:spPr>
          <a:xfrm>
            <a:off x="7284720" y="688848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363">
            <a:solidFill>
              <a:srgbClr val="00666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11670" y="6989522"/>
            <a:ext cx="31405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 · ĐẦY ĐỦ DEDEKIND</a:t>
            </a:r>
            <a:endParaRPr lang="en-US" sz="612" dirty="0"/>
          </a:p>
        </p:txBody>
      </p:sp>
      <p:sp>
        <p:nvSpPr>
          <p:cNvPr id="33" name="Text 30"/>
          <p:cNvSpPr/>
          <p:nvPr/>
        </p:nvSpPr>
        <p:spPr>
          <a:xfrm>
            <a:off x="7411670" y="7097039"/>
            <a:ext cx="3140568" cy="1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(−∞,+∞] đầy đủ</a:t>
            </a:r>
            <a:endParaRPr lang="en-US" sz="765" dirty="0"/>
          </a:p>
        </p:txBody>
      </p:sp>
      <p:sp>
        <p:nvSpPr>
          <p:cNvPr id="34" name="Text 31"/>
          <p:cNvSpPr/>
          <p:nvPr/>
        </p:nvSpPr>
        <p:spPr>
          <a:xfrm>
            <a:off x="7411670" y="7249896"/>
            <a:ext cx="3140568" cy="160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thứ tự (giải tích). Key Lemma: E +_fib F ∈ X.</a:t>
            </a:r>
            <a:endParaRPr lang="en-US" sz="663" dirty="0"/>
          </a:p>
        </p:txBody>
      </p:sp>
      <p:sp>
        <p:nvSpPr>
          <p:cNvPr id="35" name="Text 32"/>
          <p:cNvSpPr/>
          <p:nvPr/>
        </p:nvSpPr>
        <p:spPr>
          <a:xfrm>
            <a:off x="7411670" y="7410850"/>
            <a:ext cx="3140568" cy="13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ra: S1, SM1 — </a:t>
            </a:r>
            <a:pPr algn="l" indent="0" marL="0">
              <a:buNone/>
            </a:pPr>
            <a:r>
              <a:rPr lang="en-US" sz="587" b="1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nghẽn thực sự duy nhất </a:t>
            </a:r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(ℚ làm vỡ Key Lemma).</a:t>
            </a:r>
            <a:endParaRPr lang="en-US" sz="587" dirty="0"/>
          </a:p>
        </p:txBody>
      </p:sp>
      <p:sp>
        <p:nvSpPr>
          <p:cNvPr id="36" name="Shape 33"/>
          <p:cNvSpPr/>
          <p:nvPr/>
        </p:nvSpPr>
        <p:spPr>
          <a:xfrm>
            <a:off x="7543800" y="8313420"/>
            <a:ext cx="3108960" cy="110109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5182">
            <a:solidFill>
              <a:srgbClr val="00666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65568" y="8409280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2" b="1" dirty="0">
                <a:solidFill>
                  <a:srgbClr val="00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 · BIỂU DIỄN HÀM</a:t>
            </a:r>
            <a:endParaRPr lang="en-US" sz="612" dirty="0"/>
          </a:p>
        </p:txBody>
      </p:sp>
      <p:sp>
        <p:nvSpPr>
          <p:cNvPr id="38" name="Text 35"/>
          <p:cNvSpPr/>
          <p:nvPr/>
        </p:nvSpPr>
        <p:spPr>
          <a:xfrm>
            <a:off x="7665568" y="8516798"/>
            <a:ext cx="3151968" cy="152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Ingredient: song ánh X ↔ Conv(X)</a:t>
            </a:r>
            <a:endParaRPr lang="en-US" sz="765" dirty="0"/>
          </a:p>
        </p:txBody>
      </p:sp>
      <p:sp>
        <p:nvSpPr>
          <p:cNvPr id="39" name="Text 36"/>
          <p:cNvSpPr/>
          <p:nvPr/>
        </p:nvSpPr>
        <p:spPr>
          <a:xfrm>
            <a:off x="7665568" y="8669655"/>
            <a:ext cx="3151968" cy="16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13"/>
              </a:lnSpc>
              <a:buNone/>
            </a:pPr>
            <a:r>
              <a:rPr lang="en-US" sz="663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Loại: biểu diễn. epi↔hàm lồi, join↔min, spator↔inf-convolution.</a:t>
            </a:r>
            <a:endParaRPr lang="en-US" sz="663" dirty="0"/>
          </a:p>
        </p:txBody>
      </p:sp>
      <p:sp>
        <p:nvSpPr>
          <p:cNvPr id="40" name="Text 37"/>
          <p:cNvSpPr/>
          <p:nvPr/>
        </p:nvSpPr>
        <p:spPr>
          <a:xfrm>
            <a:off x="7665568" y="8830609"/>
            <a:ext cx="3151968" cy="12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87" dirty="0">
                <a:solidFill>
                  <a:srgbClr val="585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lại F3+F4+đầy đủ; không đóng góp gì cho ICS.</a:t>
            </a:r>
            <a:endParaRPr lang="en-US" sz="5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842260"/>
            <a:ext cx="399098" cy="236220"/>
          </a:xfrm>
          <a:prstGeom prst="roundRect">
            <a:avLst>
              <a:gd name="adj" fmla="val 20161"/>
            </a:avLst>
          </a:prstGeom>
          <a:solidFill>
            <a:srgbClr val="181611"/>
          </a:solidFill>
          <a:ln/>
        </p:spPr>
      </p:sp>
      <p:sp>
        <p:nvSpPr>
          <p:cNvPr id="3" name="Text 1"/>
          <p:cNvSpPr/>
          <p:nvPr/>
        </p:nvSpPr>
        <p:spPr>
          <a:xfrm>
            <a:off x="1352550" y="2880360"/>
            <a:ext cx="246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70698" y="2758440"/>
            <a:ext cx="5966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tổng kết — mỗi tiên đề dừng ở tầng nào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38250" y="3611880"/>
            <a:ext cx="15811500" cy="15240"/>
          </a:xfrm>
          <a:prstGeom prst="rect">
            <a:avLst/>
          </a:prstGeom>
          <a:solidFill>
            <a:srgbClr val="181611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326130"/>
            <a:ext cx="446335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đề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34420" y="3326130"/>
            <a:ext cx="211990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dừng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44828" y="3326130"/>
            <a:ext cx="658144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thực sự cần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60166" y="3326130"/>
            <a:ext cx="246578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lồi (F3)?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38250" y="400812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712845"/>
            <a:ext cx="4463354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M0–M3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34420" y="3712845"/>
            <a:ext cx="2119908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44828" y="3712845"/>
            <a:ext cx="6581449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Galois đối xứng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660166" y="3712845"/>
            <a:ext cx="2465784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38250" y="439293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4101465"/>
            <a:ext cx="446335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34420" y="4101465"/>
            <a:ext cx="21199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44828" y="4101465"/>
            <a:ext cx="65814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(định nghĩa)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60166" y="4101465"/>
            <a:ext cx="246578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38250" y="477774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4486275"/>
            <a:ext cx="446335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/ (Abs)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34420" y="4486275"/>
            <a:ext cx="21199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44828" y="4486275"/>
            <a:ext cx="65814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Galois đối xứng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660166" y="4486275"/>
            <a:ext cx="246578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238250" y="517017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26" name="Text 24"/>
          <p:cNvSpPr/>
          <p:nvPr/>
        </p:nvSpPr>
        <p:spPr>
          <a:xfrm>
            <a:off x="1238250" y="4871085"/>
            <a:ext cx="446335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34420" y="4871085"/>
            <a:ext cx="211990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44828" y="4871085"/>
            <a:ext cx="658144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hoán của + trên (−∞,+∞]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660166" y="4871085"/>
            <a:ext cx="246578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38250" y="557022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5263515"/>
            <a:ext cx="4463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34420" y="5263515"/>
            <a:ext cx="2119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44828" y="5263515"/>
            <a:ext cx="65814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điệu ∼ theo 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4660166" y="5263515"/>
            <a:ext cx="24657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38250" y="597027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36" name="Text 34"/>
          <p:cNvSpPr/>
          <p:nvPr/>
        </p:nvSpPr>
        <p:spPr>
          <a:xfrm>
            <a:off x="1238250" y="5663565"/>
            <a:ext cx="4463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SM2 (proper)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834420" y="5663565"/>
            <a:ext cx="2119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144828" y="5663565"/>
            <a:ext cx="65814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điệu ∼ theo 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660166" y="5663565"/>
            <a:ext cx="24657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238250" y="635508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41" name="Text 39"/>
          <p:cNvSpPr/>
          <p:nvPr/>
        </p:nvSpPr>
        <p:spPr>
          <a:xfrm>
            <a:off x="1238250" y="6063615"/>
            <a:ext cx="446335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834420" y="6063615"/>
            <a:ext cx="21199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144828" y="6063615"/>
            <a:ext cx="65814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Galois + order + đóng (F4) + đầy đủ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4660166" y="6063615"/>
            <a:ext cx="246578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238250" y="673989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46" name="Text 44"/>
          <p:cNvSpPr/>
          <p:nvPr/>
        </p:nvSpPr>
        <p:spPr>
          <a:xfrm>
            <a:off x="1238250" y="6448425"/>
            <a:ext cx="446335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SM1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834420" y="6448425"/>
            <a:ext cx="21199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144828" y="6448425"/>
            <a:ext cx="65814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Galois + order + đóng (F4) + đầy đủ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4660166" y="6448425"/>
            <a:ext cx="246578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238250" y="7139940"/>
            <a:ext cx="15811500" cy="9525"/>
          </a:xfrm>
          <a:prstGeom prst="rect">
            <a:avLst/>
          </a:prstGeom>
          <a:solidFill>
            <a:srgbClr val="D1CDC7"/>
          </a:solidFill>
          <a:ln/>
        </p:spPr>
      </p:sp>
      <p:sp>
        <p:nvSpPr>
          <p:cNvPr id="51" name="Text 49"/>
          <p:cNvSpPr/>
          <p:nvPr/>
        </p:nvSpPr>
        <p:spPr>
          <a:xfrm>
            <a:off x="1238250" y="6833235"/>
            <a:ext cx="4463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(regepi lồi)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834420" y="6833235"/>
            <a:ext cx="2119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144828" y="6833235"/>
            <a:ext cx="65814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dạng affine của ∼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4660166" y="6833235"/>
            <a:ext cx="24657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(chính nó)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238250" y="7233285"/>
            <a:ext cx="44633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(kết nối convex analysis)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5834420" y="7233285"/>
            <a:ext cx="21199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144828" y="7233285"/>
            <a:ext cx="65814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+ F4 + đầy đủ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4660166" y="7233285"/>
            <a:ext cx="24657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— bắt buộc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2026-07-18T08:53:16Z</dcterms:created>
  <dcterms:modified xsi:type="dcterms:W3CDTF">2026-07-18T08:53:16Z</dcterms:modified>
</cp:coreProperties>
</file>